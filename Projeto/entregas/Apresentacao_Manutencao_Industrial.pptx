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e9e1cdc39d48c0" /><Relationship Type="http://schemas.openxmlformats.org/officeDocument/2006/relationships/extended-properties" Target="/docProps/app.xml" Id="R367bde020d744e43" /><Relationship Type="http://schemas.openxmlformats.org/officeDocument/2006/relationships/officeDocument" Target="/ppt/presentation.xml" Id="R28c6eefc6c66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f08dde49454880"/>
  </p:sldMasterIdLst>
  <p:notesMasterIdLst>
    <p:notesMasterId xmlns:r="http://schemas.openxmlformats.org/officeDocument/2006/relationships" r:id="Ra23c6b4050e24db2"/>
  </p:notesMasterIdLst>
  <p:sldIdLst>
    <p:sldId xmlns:r="http://schemas.openxmlformats.org/officeDocument/2006/relationships" id="256" r:id="R18ebaf57210c48c6"/>
    <p:sldId xmlns:r="http://schemas.openxmlformats.org/officeDocument/2006/relationships" id="257" r:id="Rbc626aabeb6e4599"/>
    <p:sldId xmlns:r="http://schemas.openxmlformats.org/officeDocument/2006/relationships" id="258" r:id="R93ded0f01361426a"/>
    <p:sldId xmlns:r="http://schemas.openxmlformats.org/officeDocument/2006/relationships" id="259" r:id="Rad97538f558b4d9d"/>
    <p:sldId xmlns:r="http://schemas.openxmlformats.org/officeDocument/2006/relationships" id="260" r:id="R373d9f97ae9646b2"/>
    <p:sldId xmlns:r="http://schemas.openxmlformats.org/officeDocument/2006/relationships" id="261" r:id="Rd3cf9a1f560440a1"/>
    <p:sldId xmlns:r="http://schemas.openxmlformats.org/officeDocument/2006/relationships" id="262" r:id="R308f371b30d045fb"/>
    <p:sldId xmlns:r="http://schemas.openxmlformats.org/officeDocument/2006/relationships" id="263" r:id="Rabbf200d13ea4fa0"/>
    <p:sldId xmlns:r="http://schemas.openxmlformats.org/officeDocument/2006/relationships" id="264" r:id="R39ef8c479a1245df"/>
    <p:sldId xmlns:r="http://schemas.openxmlformats.org/officeDocument/2006/relationships" id="265" r:id="R5abd9a332e5d4dfd"/>
    <p:sldId xmlns:r="http://schemas.openxmlformats.org/officeDocument/2006/relationships" id="266" r:id="R6c934828ceae49d4"/>
    <p:sldId xmlns:r="http://schemas.openxmlformats.org/officeDocument/2006/relationships" id="267" r:id="Rac91f2a4cc3347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1d6f48d1da401c" /><Relationship Type="http://schemas.openxmlformats.org/officeDocument/2006/relationships/slideMaster" Target="/ppt/slideMasters/slideMaster1.xml" Id="Rcff08dde49454880" /><Relationship Type="http://schemas.openxmlformats.org/officeDocument/2006/relationships/notesMaster" Target="/ppt/notesMasters/notesMaster1.xml" Id="Ra23c6b4050e24db2" /><Relationship Type="http://schemas.openxmlformats.org/officeDocument/2006/relationships/presProps" Target="/ppt/presProps.xml" Id="Rdda1d4b789014579" /><Relationship Type="http://schemas.openxmlformats.org/officeDocument/2006/relationships/tableStyles" Target="/ppt/tableStyles.xml" Id="R54d4ba598b224deb" /><Relationship Type="http://schemas.openxmlformats.org/officeDocument/2006/relationships/slide" Target="/ppt/slides/slide1.xml" Id="R18ebaf57210c48c6" /><Relationship Type="http://schemas.openxmlformats.org/officeDocument/2006/relationships/slide" Target="/ppt/slides/slide2.xml" Id="Rbc626aabeb6e4599" /><Relationship Type="http://schemas.openxmlformats.org/officeDocument/2006/relationships/slide" Target="/ppt/slides/slide3.xml" Id="R93ded0f01361426a" /><Relationship Type="http://schemas.openxmlformats.org/officeDocument/2006/relationships/slide" Target="/ppt/slides/slide4.xml" Id="Rad97538f558b4d9d" /><Relationship Type="http://schemas.openxmlformats.org/officeDocument/2006/relationships/slide" Target="/ppt/slides/slide5.xml" Id="R373d9f97ae9646b2" /><Relationship Type="http://schemas.openxmlformats.org/officeDocument/2006/relationships/slide" Target="/ppt/slides/slide6.xml" Id="Rd3cf9a1f560440a1" /><Relationship Type="http://schemas.openxmlformats.org/officeDocument/2006/relationships/slide" Target="/ppt/slides/slide7.xml" Id="R308f371b30d045fb" /><Relationship Type="http://schemas.openxmlformats.org/officeDocument/2006/relationships/slide" Target="/ppt/slides/slide8.xml" Id="Rabbf200d13ea4fa0" /><Relationship Type="http://schemas.openxmlformats.org/officeDocument/2006/relationships/slide" Target="/ppt/slides/slide9.xml" Id="R39ef8c479a1245df" /><Relationship Type="http://schemas.openxmlformats.org/officeDocument/2006/relationships/slide" Target="/ppt/slides/slide10.xml" Id="R5abd9a332e5d4dfd" /><Relationship Type="http://schemas.openxmlformats.org/officeDocument/2006/relationships/slide" Target="/ppt/slides/slide11.xml" Id="R6c934828ceae49d4" /><Relationship Type="http://schemas.openxmlformats.org/officeDocument/2006/relationships/slide" Target="/ppt/slides/slide12.xml" Id="Rac91f2a4cc3347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5327a1095846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90647e28f492d" /><Relationship Type="http://schemas.openxmlformats.org/officeDocument/2006/relationships/notesMaster" Target="/ppt/notesMasters/notesMaster1.xml" Id="R856698c5b40543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2a690913244907" /><Relationship Type="http://schemas.openxmlformats.org/officeDocument/2006/relationships/notesMaster" Target="/ppt/notesMasters/notesMaster1.xml" Id="Rd57b0a6f253d4f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6f63b1c6e549f1" /><Relationship Type="http://schemas.openxmlformats.org/officeDocument/2006/relationships/notesMaster" Target="/ppt/notesMasters/notesMaster1.xml" Id="R0879531cc2c34e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b669ae9eca41ce" /><Relationship Type="http://schemas.openxmlformats.org/officeDocument/2006/relationships/notesMaster" Target="/ppt/notesMasters/notesMaster1.xml" Id="R6753e35763e9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34102e8f14266" /><Relationship Type="http://schemas.openxmlformats.org/officeDocument/2006/relationships/notesMaster" Target="/ppt/notesMasters/notesMaster1.xml" Id="R342890ac07c846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006d1346f94be6" /><Relationship Type="http://schemas.openxmlformats.org/officeDocument/2006/relationships/notesMaster" Target="/ppt/notesMasters/notesMaster1.xml" Id="R02ad337652f841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4dbde94be1407a" /><Relationship Type="http://schemas.openxmlformats.org/officeDocument/2006/relationships/notesMaster" Target="/ppt/notesMasters/notesMaster1.xml" Id="R9d4afdacf03c46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8e062d9e794b08" /><Relationship Type="http://schemas.openxmlformats.org/officeDocument/2006/relationships/notesMaster" Target="/ppt/notesMasters/notesMaster1.xml" Id="R2087f1cda0b743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02bd9d03664d13" /><Relationship Type="http://schemas.openxmlformats.org/officeDocument/2006/relationships/notesMaster" Target="/ppt/notesMasters/notesMaster1.xml" Id="R1dd8d20f28ac4d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1b722fbaee475b" /><Relationship Type="http://schemas.openxmlformats.org/officeDocument/2006/relationships/notesMaster" Target="/ppt/notesMasters/notesMaster1.xml" Id="Rce910cd7092646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320295027d42a2" /><Relationship Type="http://schemas.openxmlformats.org/officeDocument/2006/relationships/notesMaster" Target="/ppt/notesMasters/notesMaster1.xml" Id="Ra2911e4c71544f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8910fa68304d8c" /><Relationship Type="http://schemas.openxmlformats.org/officeDocument/2006/relationships/notesMaster" Target="/ppt/notesMasters/notesMaster1.xml" Id="R3ccdb17eaa6c42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trabalho analisa as condições de operação de cinco máquinas da S&amp;M Industry Tech. O objetivo foi entender quais variáveis aparecem associadas às falhas e comparar modelos de classificação. A apresentação resume o caminho da preparação dos dados até as recomendações de manutenção. O foco é explicar os resultados encontrados, inclusive as limitações do classificador.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empresa enfrenta paradas não planejadas e utiliza parte da manutenção de forma corretiva. A proposta foi investigar os dados que já existem para apoiar a compreensão das falhas. Cada linha representa uma observação de uma máquina. O alvo vale zero quando não existe falha registrada e um quando existe. Esse detalhe é importante porque o trabalho classifica a condição do registro. Para prever com antecedência, seria necessário definir, por exemplo, se a máquina falhará nas próximas horas e reorganizar a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arquivo original possui 5.050 linhas e oito colunas. Foram retiradas 50 duplicatas exatas, restando cinco mil registros. Depois dessa limpeza, cada sensor apresentou 50 valores ausentes. Nos classificadores, a mediana foi calculada apenas com os dados de treinamento, dentro do Pipeline. Os valores extremos foram mantidos porque a base não informa os limites físicos de operação. Uma temperatura de 278,84 graus exige investigação, mas a estatística sozinha não permite afirmar se é um defeito do sensor ou uma condição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gráfico mostra a correlação de Pearson entre as medições e a coluna falha. Horas de operação teve o maior valor, aproximadamente 0,381, seguida por vibração, com 0,304. Temperatura e corrente também apresentaram associação positiva, porém mais fraca. A pressão ficou próxima de zero. As médias de horas e vibração foram maiores entre os registros com falha. Esses resultados apoiam o acompanhamento conjunto dos sensores, mas não provam que uma variável cause a falha nem permitem definir um limite automático de 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separação respeitou a ordem do tempo. Os três mil registros iniciais serviram para treino, os mil seguintes para validação e os mil finais para teste. A validação serviu para comparar Árvore de Decisão, Random Forest e Regressão Logística. O critério foi o F1 da classe falha porque ele combina precisão e recall. Depois da escolha, a Random Forest foi ajustada com treino e validação reunidos. O teste ficou reservado para a avaliação final. Essa separação evita escolher o modelo olhando diretamente o resultado que deve representar uma avaliação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Random Forest apresentou o maior F1 na validação, aproximadamente 0,332. A Regressão Logística ficou em 0,315 e a Árvore de Decisão em 0,208. O modelo de referência escolhe sempre a classe sem falha e tem F1 igual a zero para a classe falha. A acurácia da árvore e da regressão foi ligeiramente maior, mas elas não foram escolhidas porque o critério definido era o F1. Esse resultado mostra por que a comparação depende da métrica adequada ao objetivo do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Depois do reajuste com treino e validação, a Random Forest atingiu acurácia de 82,50 por cento e precisão de 58,44 por cento no teste. O recall foi de apenas 23,94 por cento. Em termos simples, ela encontrou 45 das 188 falhas existentes. O F1 ficou em 0,340. A leitura principal é que a acurácia parece alta, mas o modelo deixa a maior parte das falhas passar. Por isso, o resultado ainda não sustenta usar esse classificador como único critério de alerta de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Nesta tabela, as linhas representam a situação registrada e as colunas representam a previsão. O modelo acertou 780 registros sem falha e 45 com falha. Os 32 falsos positivos poderiam gerar inspeções desnecessárias. O problema principal está nos 143 falsos negativos: eram falhas, mas o modelo respondeu sem falha. Isso equivale a 76,06 por cento das falhas do teste. A classe majoritária sozinha teria 81,20 por cento de acurácia nesse conjunto. Assim, o ganho de acurácia do modelo foi pequeno. Não foram calculados custos porque a base não fornece esses valores.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K-Means agrupou os dados sem receber a coluna falha. Foram comparadas quantidades de dois a seis grupos e a melhor silhueta ocorreu com três. O cluster zero apresentou menores médias de horas de operação e vibração e taxa de falha de 4,46 por cento. No cluster um, essas médias foram maiores e a taxa chegou a 31,95 por cento. O cluster dois reúne apenas 25 registros, com temperatura média de 208,28 graus. Esse grupo evidencia a influência dos extremos e precisa ser investigado. A silhueta de 0,224 indica sobreposição, então esses perfis não são categorias definitivas de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etapa de PySpark repetiu operações de leitura, seleção, filtro e agrupamento. Foi possível contar registros, verificar ausências e calcular taxas de falha por máquina. As contagens e taxas coincidiram com o Pandas. O Spark rodou em modo local, com os recursos de uma máquina. Como a base tem cinco mil registros, o Pandas já era suficiente. A contribuição dessa etapa foi utilizar uma API que pode trabalhar de forma distribuída quando existe uma infraestrutura adequada e um volume maior de dados. O trabalho não mediu ganho de velocidade.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primeiras recomendações estão ligadas à qualidade da coleta. Os sensores com ausências e as temperaturas extremas precisam ser verificados. Outra ação é acompanhar horas de operação e vibração junto com as outras medições, pois esses atributos apareceram associados às falhas. A M04 merece investigação do histórico, mas sua taxa não autoriza concluir que seja a pior máquina. Para o modelo, ajustes de pesos das classes e do limite de decisão são possibilidades futuras, ainda não testadas. Esses ajustes precisam usar os dados de desenvolvimento e depois passar por avaliação em um novo período. Também é importante registrar as causas das falhas e as intervenções.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estudo encontrou associações úteis para orientar a investigação das falhas, principalmente envolvendo horas de operação e vibração. A classificação apresentou uma limitação clara: o modelo escolhido encontrou menos de um quarto das falhas no teste. Os agrupamentos ajudaram a descrever perfis, mas a sobreposição e os extremos exigem cuidado. O histórico contém cinco máquinas e aproximadamente seis semanas, sem limites técnicos completos dos equipamentos. O próximo passo é melhorar a qualidade da base e ampliar a avaliação com períodos novos. Para manutenção preditiva com antecedência, seria necessário definir outro alvo. A principal contribuição do trabalho foi transformar os registros em evidências para apoiar a análise da manutenção e mostrar os limites do que os modelos conseguiram identificar.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Projeto_Manutencao_Industrial.ipynb e tabelas em resultados/, calculados sobre a base de manutenção indicada no enunciado do Prof. Me. Daniel Vieira. Base: https://drive.google.com/file/d/1yQ7P-mbRK3Gsh12ey6ahxk8szc6pOie1/view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3cb32e10b47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2fe2ba1d54c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2346b102448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c23409b424b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3520721e546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64aab883a4d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678804-91C8-4223-8B9D-95E38AAB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F26483-5B99-4200-AE5F-733B8774F5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E40573-124F-47CE-9C3C-6B7E5D92C6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5B0854-F866-4E58-BF62-0F8AD68F3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6E07A2-F8D7-40E5-A4A6-06E1F73184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01C065-F7BF-4130-83B2-B4644F5EEF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BE0CA8-A3A7-408D-AE17-7FECC5DF83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1DD15D-D8C2-4A27-91BB-9A1175EC95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0A8545-8D88-485E-8697-64389BE9C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513B4E-1CFD-46C4-995D-5D97327BBF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6281917fe423e" /><Relationship Type="http://schemas.openxmlformats.org/officeDocument/2006/relationships/slideLayout" Target="/ppt/slideLayouts/slideLayout1.xml" Id="R4d5a90e445d8490d" /><Relationship Type="http://schemas.openxmlformats.org/officeDocument/2006/relationships/slideLayout" Target="/ppt/slideLayouts/slideLayout2.xml" Id="R30dcb6486d8149eb" /><Relationship Type="http://schemas.openxmlformats.org/officeDocument/2006/relationships/slideLayout" Target="/ppt/slideLayouts/slideLayout3.xml" Id="R9b35ea546ebd4f60" /><Relationship Type="http://schemas.openxmlformats.org/officeDocument/2006/relationships/slideLayout" Target="/ppt/slideLayouts/slideLayout4.xml" Id="R0c589b60390840b9" /><Relationship Type="http://schemas.openxmlformats.org/officeDocument/2006/relationships/slideLayout" Target="/ppt/slideLayouts/slideLayout5.xml" Id="R42adc6d844324537" /><Relationship Type="http://schemas.openxmlformats.org/officeDocument/2006/relationships/slideLayout" Target="/ppt/slideLayouts/slideLayout6.xml" Id="R89d617a6e2cd48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a90e445d8490d"/>
    <p:sldLayoutId xmlns:r="http://schemas.openxmlformats.org/officeDocument/2006/relationships" id="2147483650" r:id="R30dcb6486d8149eb"/>
    <p:sldLayoutId xmlns:r="http://schemas.openxmlformats.org/officeDocument/2006/relationships" id="2147483651" r:id="R9b35ea546ebd4f60"/>
    <p:sldLayoutId xmlns:r="http://schemas.openxmlformats.org/officeDocument/2006/relationships" id="2147483652" r:id="R0c589b60390840b9"/>
    <p:sldLayoutId xmlns:r="http://schemas.openxmlformats.org/officeDocument/2006/relationships" id="2147483653" r:id="R42adc6d844324537"/>
    <p:sldLayoutId xmlns:r="http://schemas.openxmlformats.org/officeDocument/2006/relationships" id="2147483654" r:id="R89d617a6e2cd48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b34c0b1034602" /><Relationship Type="http://schemas.openxmlformats.org/officeDocument/2006/relationships/notesSlide" Target="/ppt/notesSlides/notesSlide1.xml" Id="R3838a5c9a5e540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df5d44fae4eb7" /><Relationship Type="http://schemas.openxmlformats.org/officeDocument/2006/relationships/notesSlide" Target="/ppt/notesSlides/notesSlide2.xml" Id="R81d69dd85d9f41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4f0af723647dd" /><Relationship Type="http://schemas.openxmlformats.org/officeDocument/2006/relationships/notesSlide" Target="/ppt/notesSlides/notesSlide3.xml" Id="R51a285e5c27b48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d420e064984b75" /><Relationship Type="http://schemas.openxmlformats.org/officeDocument/2006/relationships/chart" Target="/ppt/slides/charts/chart1.xml" Id="R1de167e01f0f4652" /><Relationship Type="http://schemas.openxmlformats.org/officeDocument/2006/relationships/notesSlide" Target="/ppt/notesSlides/notesSlide4.xml" Id="R8d397164e24140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c86d190fb47ae" /><Relationship Type="http://schemas.openxmlformats.org/officeDocument/2006/relationships/notesSlide" Target="/ppt/notesSlides/notesSlide5.xml" Id="R2b60aadb9c6348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468047e6c43d7" /><Relationship Type="http://schemas.openxmlformats.org/officeDocument/2006/relationships/chart" Target="/ppt/slides/charts/chart2.xml" Id="R9a887942fbdb406d" /><Relationship Type="http://schemas.openxmlformats.org/officeDocument/2006/relationships/notesSlide" Target="/ppt/notesSlides/notesSlide6.xml" Id="R424e18ec980c4d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ae635a0084871" /><Relationship Type="http://schemas.openxmlformats.org/officeDocument/2006/relationships/notesSlide" Target="/ppt/notesSlides/notesSlide7.xml" Id="R445ef8daed9545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659e6a4864a10" /><Relationship Type="http://schemas.openxmlformats.org/officeDocument/2006/relationships/notesSlide" Target="/ppt/notesSlides/notesSlide8.xml" Id="R7d63379fcdb040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07386cbdd426a" /><Relationship Type="http://schemas.openxmlformats.org/officeDocument/2006/relationships/notesSlide" Target="/ppt/notesSlides/notesSlide9.xml" Id="Rb95d5190b7bc48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6207c72fd4fa9" /><Relationship Type="http://schemas.openxmlformats.org/officeDocument/2006/relationships/notesSlide" Target="/ppt/notesSlides/notesSlide10.xml" Id="Rb5e3a36af20347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f2ec531154eb1" /><Relationship Type="http://schemas.openxmlformats.org/officeDocument/2006/relationships/notesSlide" Target="/ppt/notesSlides/notesSlide11.xml" Id="R67b7ad50994b46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5fcceb52645f8" /><Relationship Type="http://schemas.openxmlformats.org/officeDocument/2006/relationships/notesSlide" Target="/ppt/notesSlides/notesSlide12.xml" Id="R726694da7053489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Correlação</c:v>
          </c:tx>
          <c:spPr>
            <a:solidFill xmlns:a="http://schemas.openxmlformats.org/drawingml/2006/main">
              <a:srgbClr val="157A85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Horas de operação</c:v>
                </c:pt>
                <c:pt idx="1">
                  <c:v>Vibração</c:v>
                </c:pt>
                <c:pt idx="2">
                  <c:v>Corrente</c:v>
                </c:pt>
                <c:pt idx="3">
                  <c:v>Temperatura</c:v>
                </c:pt>
                <c:pt idx="4">
                  <c:v>Pressão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0.381</c:v>
                </c:pt>
                <c:pt idx="1">
                  <c:v>0.304</c:v>
                </c:pt>
                <c:pt idx="2">
                  <c:v>0.163</c:v>
                </c:pt>
                <c:pt idx="3">
                  <c:v>0.112</c:v>
                </c:pt>
                <c:pt idx="4">
                  <c:v>-0.022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F1 na validação</c:v>
          </c:tx>
          <c:spPr>
            <a:solidFill xmlns:a="http://schemas.openxmlformats.org/drawingml/2006/main">
              <a:srgbClr val="157A85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Random Forest</c:v>
                </c:pt>
                <c:pt idx="1">
                  <c:v>Regressão Logística</c:v>
                </c:pt>
                <c:pt idx="2">
                  <c:v>Árvore de Decisão</c:v>
                </c:pt>
                <c:pt idx="3">
                  <c:v>Referência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0.332</c:v>
                </c:pt>
                <c:pt idx="1">
                  <c:v>0.315</c:v>
                </c:pt>
                <c:pt idx="2">
                  <c:v>0.208</c:v>
                </c:pt>
                <c:pt idx="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1FB6C-B904-49DB-8169-BADD9DD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Análise de falhas em</a:t>
            </a:r>
          </a:p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equipamentos industriais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5587E-518F-487A-BCC4-B858E35C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B2E01-0AC3-45B2-9544-5FAB4DE4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7A85"/>
                </a:solidFill>
                <a:latin typeface="Arial"/>
                <a:ea typeface="Arial"/>
                <a:cs typeface="Arial"/>
              </a:rPr>
              <a:t>Projeto de Data Science e Big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15A63-D9DF-4FF5-A6B6-992ECE2E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76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Carlos Alexandre Duarte Pereira</a:t>
            </a:r>
          </a:p>
          <a:p xmlns:a="http://schemas.openxmlformats.org/drawingml/2006/main">
            <a: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Data Science &amp; Big Data Aplicados na Indústria</a:t>
            </a:r>
          </a:p>
          <a:p xmlns:a="http://schemas.openxmlformats.org/drawingml/2006/main">
            <a: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Disciplina: Data Science e Big Data</a:t>
            </a:r>
          </a:p>
          <a:p xmlns:a="http://schemas.openxmlformats.org/drawingml/2006/main">
            <a: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Professor: Me. Daniel Vieira</a:t>
            </a:r>
          </a:p>
          <a:p xmlns:a="http://schemas.openxmlformats.org/drawingml/2006/main">
            <a: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24/10/2026</a:t>
            </a:r>
          </a:p>
        </p:txBody>
      </p:sp>
    </p:spTree>
    <p:extLst>
      <p:ext uri="{BB962C8B-B14F-4D97-AF65-F5344CB8AC3E}">
        <p14:creationId xmlns:p14="http://schemas.microsoft.com/office/powerpoint/2010/main" val="1136963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21F83-5EBA-4337-8164-8418C83A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Problema e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18A26-25AC-49AA-9FBE-F1F19C2E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6719A-96B2-4666-88EA-CDCF6A4A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empresa enfrenta paradas não planejadas de máquinas.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7C8ED-86BA-4A92-8A18-83F1BE3B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Objetivo: identificar condições associadas às falhas e avaliar modelos de classificação.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D9447-D0AC-4B37-8BCE-5E0DBC8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7A85"/>
                </a:solidFill>
                <a:latin typeface="Arial"/>
                <a:ea typeface="Arial"/>
                <a:cs typeface="Arial"/>
              </a:rPr>
              <a:t>Alvo: falha no próprio registro</a:t>
            </a:r>
          </a:p>
          <a:p xmlns:a="http://schemas.openxmlformats.org/drawingml/2006/main">
            <a:pPr>
              <a:defRPr sz="21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7A85"/>
                </a:solidFill>
                <a:latin typeface="Arial"/>
                <a:ea typeface="Arial"/>
                <a:cs typeface="Arial"/>
              </a:rPr>
              <a:t>0 = sem falha     1 = com falha</a:t>
            </a:r>
          </a:p>
        </p:txBody>
      </p:sp>
    </p:spTree>
    <p:extLst>
      <p:ext uri="{BB962C8B-B14F-4D97-AF65-F5344CB8AC3E}">
        <p14:creationId xmlns:p14="http://schemas.microsoft.com/office/powerpoint/2010/main" val="1427301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303A1-97FD-4BCF-9D44-05DA9A93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Base de dados e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495AD-67E9-4EEE-8A80-0F906BDD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F01B2-B239-4ACF-B4CF-2C76B498613D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381750"/>
              </a:tblGrid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Verificação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Base original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5.050 registros e 8 atributos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Duplicatas exatas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50 registros removidos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Base limpa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5.000 registros em cinco máquinas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Ausências após limpeza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50 em cada variável operacional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Falhas na base limpa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903 registros, equivalentes a 18,06%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FEAAD-141A-4954-87F0-3F0F2405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Período observado: 01/01/2026 a 11/02/2026</a:t>
            </a:r>
          </a:p>
        </p:txBody>
      </p:sp>
    </p:spTree>
    <p:extLst>
      <p:ext uri="{BB962C8B-B14F-4D97-AF65-F5344CB8AC3E}">
        <p14:creationId xmlns:p14="http://schemas.microsoft.com/office/powerpoint/2010/main" val="688822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A76FB-6F71-43FA-BD34-7E78D62E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Variáveis associadas às falhas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04661-4CAB-40FF-9421-122A59CC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FF101CB-7A40-426E-B4F3-55B39433B47A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e167e01f0f465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190F5-55FF-4019-A6DD-23E6BCDA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Horas de operação e vibração apresentam as maiores associações lineares.</a:t>
            </a:r>
          </a:p>
        </p:txBody>
      </p:sp>
    </p:spTree>
    <p:extLst>
      <p:ext uri="{BB962C8B-B14F-4D97-AF65-F5344CB8AC3E}">
        <p14:creationId xmlns:p14="http://schemas.microsoft.com/office/powerpoint/2010/main" val="830995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BA5A1-6F46-4923-AF4A-723242E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Treinamento e avaliação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507D0-0D7B-4B42-9E25-A60C5544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57705-9274-41F9-9B35-430004B7795E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95500"/>
                <a:gridCol w="61912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Conjunto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Registros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Finalidade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Treino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3.000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Ajuste inicial dos modelos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Comparação e escolha pelo 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Teste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Avaliação final do modelo escolhido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9CDCE-CC3E-4A84-949E-BAACE617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Atributos: temperatura, vibração, pressão, corrente e horas de operação.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4BE5E-82F7-4492-829A-5604FC5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A85"/>
                </a:solidFill>
                <a:latin typeface="Arial"/>
                <a:ea typeface="Arial"/>
                <a:cs typeface="Arial"/>
              </a:rPr>
              <a:t>Preparação dentro do Pipeline, com mediana aprendida no treino.</a:t>
            </a:r>
          </a:p>
        </p:txBody>
      </p:sp>
    </p:spTree>
    <p:extLst>
      <p:ext uri="{BB962C8B-B14F-4D97-AF65-F5344CB8AC3E}">
        <p14:creationId xmlns:p14="http://schemas.microsoft.com/office/powerpoint/2010/main" val="1712761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1DA89-7124-49AD-952A-98C0F50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Comparação dos classificadores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DAC0B-B21A-4BDD-9E91-C56D3F5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72B887B-ED08-470B-A17E-0A9EE23EDBF5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887942fbdb406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DE505-2DF0-4075-A87C-973D2819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Critério de escolha: maior F1 da classe falha na validação.</a:t>
            </a:r>
          </a:p>
        </p:txBody>
      </p:sp>
    </p:spTree>
    <p:extLst>
      <p:ext uri="{BB962C8B-B14F-4D97-AF65-F5344CB8AC3E}">
        <p14:creationId xmlns:p14="http://schemas.microsoft.com/office/powerpoint/2010/main" val="1014512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8C04E-0C59-4A44-A56D-008A49D6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Random Forest no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C815B-E520-4072-8D92-F930861A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9342E-66C9-4502-9481-FDE12CEFA97B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765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Acurácia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82,50%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Precisão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58,44%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23,94%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F1-score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0,340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0465C-A7DC-47B8-A87C-EEBFBA82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57A85"/>
                </a:solidFill>
                <a:latin typeface="Arial"/>
                <a:ea typeface="Arial"/>
                <a:cs typeface="Arial"/>
              </a:rPr>
              <a:t>45 de 188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27696-9271-4081-B400-8D5F3FF0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falhas identificadas</a:t>
            </a:r>
          </a:p>
          <a:p xmlns:a="http://schemas.openxmlformats.org/drawingml/2006/main">
            <a: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no conjunto de teste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EE538-A1DC-43B2-AA50-F105CC65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baixa detecção de falhas limita o uso do modelo.</a:t>
            </a:r>
          </a:p>
        </p:txBody>
      </p:sp>
    </p:spTree>
    <p:extLst>
      <p:ext uri="{BB962C8B-B14F-4D97-AF65-F5344CB8AC3E}">
        <p14:creationId xmlns:p14="http://schemas.microsoft.com/office/powerpoint/2010/main" val="858920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A2FF9-BCB8-4289-BB9B-79EF32E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Erros e impacto na manutenção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EFD90-096A-4F12-BC78-13D7581A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95D3F-574E-40D2-820B-18AE2D51EE28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333750"/>
                <a:gridCol w="3333750"/>
              </a:tblGrid>
              <a:tr h="793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Situação observada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Previsão sem falha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Previsão com falha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Sem falha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780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Com falha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143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E472C-4340-464B-A948-EFB5FBED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143 falsos negativos: falhas que passaram sem identificação.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4B7F2-14CC-4B91-9580-928A2BB7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32 falsos positivos: possíveis inspeções ou alarmes indevidos.</a:t>
            </a:r>
          </a:p>
        </p:txBody>
      </p:sp>
    </p:spTree>
    <p:extLst>
      <p:ext uri="{BB962C8B-B14F-4D97-AF65-F5344CB8AC3E}">
        <p14:creationId xmlns:p14="http://schemas.microsoft.com/office/powerpoint/2010/main" val="1379094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C715C-91CF-4602-B3AC-3791BE23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Perfis operacionais com K-Means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E4EC4-5759-4F15-BB73-17AFDCC6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F4888-2355-403E-8B73-53B13237003C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2286000"/>
                <a:gridCol w="552450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Cluster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Registros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Taxa de falha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Perfil observado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2.509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4,46%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Menores horas e vibração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2.466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31,95%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Maiores horas e vibração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12,00%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Temperatura média de 208,28 °C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202FE-C2F5-4253-B20C-999DC144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Silhueta: 0,224. Os grupos ainda apresentam sobreposição.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B7782-2CB7-410A-92AF-5B6EFDAE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A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A85"/>
                </a:solidFill>
                <a:latin typeface="Arial"/>
                <a:ea typeface="Arial"/>
                <a:cs typeface="Arial"/>
              </a:rPr>
              <a:t>A falha participa somente da análise posterior dos perfis.</a:t>
            </a:r>
          </a:p>
        </p:txBody>
      </p:sp>
    </p:spTree>
    <p:extLst>
      <p:ext uri="{BB962C8B-B14F-4D97-AF65-F5344CB8AC3E}">
        <p14:creationId xmlns:p14="http://schemas.microsoft.com/office/powerpoint/2010/main" val="32215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B96D4-45C5-4468-A14A-4C7206C5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Processamento com 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B4317-0C7E-492E-A705-196593CF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F35C3-DAD9-4CCA-A0C0-1F50AE17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7A85"/>
                </a:solidFill>
                <a:latin typeface="Arial"/>
                <a:ea typeface="Arial"/>
                <a:cs typeface="Arial"/>
              </a:rPr>
              <a:t>Operações realizadas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A1A11-4C37-483E-838D-5EE86DE3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Leitura do CSV e inspeção do schema</a:t>
            </a:r>
          </a:p>
          <a:p xmlns:a="http://schemas.openxmlformats.org/drawingml/2006/main">
            <a: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Seleção de colunas e filtro de registros com falha</a:t>
            </a:r>
          </a:p>
          <a:p xmlns:a="http://schemas.openxmlformats.org/drawingml/2006/main">
            <a:pPr>
              <a:defRPr sz="225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Agrupamentos por máquina, classe e 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43199-FE51-472A-8676-F5B85B2A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Pandas e Spark produziram as mesmas contagens e taxas por máquina.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057BF-9AB4-430F-B66A-99A8E1A5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Execução local, sem medição de desempenho distribuído.</a:t>
            </a:r>
          </a:p>
        </p:txBody>
      </p:sp>
    </p:spTree>
    <p:extLst>
      <p:ext uri="{BB962C8B-B14F-4D97-AF65-F5344CB8AC3E}">
        <p14:creationId xmlns:p14="http://schemas.microsoft.com/office/powerpoint/2010/main" val="1163353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E24BD-F8E2-4AE5-8907-F1B848CF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Recomendações para a manutenção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99D33-BAB2-47A4-8FCA-CA05F932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F6D3D-5E8E-4928-9CE9-F9833C3F373E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6000750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Evidência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Ação proposta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Ausências e temperaturas extremas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Conferir coleta e calibração dos sensores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Horas e vibração associadas à falha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Acompanhar as medições em conjunto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M04 com taxa de 18,90%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Investigar histórico e condições de uso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Recall de 23,94%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Desenvolver o modelo e validar em novos dados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Histórico curto e poucos equipamentos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343"/>
                          </a:solidFill>
                          <a:latin typeface="Arial"/>
                          <a:ea typeface="Arial"/>
                          <a:cs typeface="Arial"/>
                        </a:rPr>
                        <a:t>Ampliar a coleta e registrar intervenções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91CF5-47D7-4804-BE05-0BFB88FB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As ações são propostas. O projeto não mediu redução de custos ou paradas.</a:t>
            </a:r>
          </a:p>
        </p:txBody>
      </p:sp>
    </p:spTree>
    <p:extLst>
      <p:ext uri="{BB962C8B-B14F-4D97-AF65-F5344CB8AC3E}">
        <p14:creationId xmlns:p14="http://schemas.microsoft.com/office/powerpoint/2010/main" val="17691438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50EAC-DB1B-424A-81D5-473ADCFB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Conclusões e limitações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B990F-1AC5-4F92-A967-28F142A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A8998-49AC-4081-9E0B-EC733703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Horas de operação e vibração se destacaram na análise das falhas.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6E87A-F0B8-4183-B454-2EF45D3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A Random Forest encontrou 23,94% das falhas do teste.</a:t>
            </a:r>
          </a:p>
          <a:p xmlns:a="http://schemas.openxmlformats.org/drawingml/2006/main">
            <a:pPr>
              <a:defRPr sz="2325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A classificação exige melhoria e nova validação.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196A5-F42D-4FE7-83AA-A8C2D79A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3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343"/>
                </a:solidFill>
                <a:latin typeface="Arial"/>
                <a:ea typeface="Arial"/>
                <a:cs typeface="Arial"/>
              </a:rPr>
              <a:t>Limitações: cinco máquinas, cerca de seis semanas e ausência de limites técnicos completos.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67151-12B6-4016-BD58-2B3A09B8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57A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7A85"/>
                </a:solidFill>
                <a:latin typeface="Arial"/>
                <a:ea typeface="Arial"/>
                <a:cs typeface="Arial"/>
              </a:rPr>
              <a:t>Próximo passo: melhorar a coleta e avaliar novos períodos.</a:t>
            </a:r>
          </a:p>
        </p:txBody>
      </p:sp>
    </p:spTree>
    <p:extLst>
      <p:ext uri="{BB962C8B-B14F-4D97-AF65-F5344CB8AC3E}">
        <p14:creationId xmlns:p14="http://schemas.microsoft.com/office/powerpoint/2010/main" val="386330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2026-10-24T16:59:39.2530000Z</dcterms:created>
  <dcterms:modified xsi:type="dcterms:W3CDTF">2026-10-24T16:59:39.2530000Z</dcterms:modified>
</coreProperties>
</file>